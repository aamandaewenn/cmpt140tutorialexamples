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74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4365C-FEE2-4824-96D2-58097CA0321A}" v="1" dt="2026-02-12T21:10:22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1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6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6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9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1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20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30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1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2B426-79D9-FAEA-1F6B-E92D01186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400" y="348048"/>
            <a:ext cx="6602628" cy="4545227"/>
          </a:xfrm>
        </p:spPr>
        <p:txBody>
          <a:bodyPr>
            <a:normAutofit/>
          </a:bodyPr>
          <a:lstStyle/>
          <a:p>
            <a:pPr algn="l"/>
            <a:r>
              <a:rPr lang="en-CA" sz="6200" dirty="0"/>
              <a:t>CMPT 140 Lab 4: Midterm Review, Functions</a:t>
            </a:r>
          </a:p>
        </p:txBody>
      </p:sp>
      <p:pic>
        <p:nvPicPr>
          <p:cNvPr id="4" name="Picture 3" descr="Hand holding a pen shading number on a sheet">
            <a:extLst>
              <a:ext uri="{FF2B5EF4-FFF2-40B4-BE49-F238E27FC236}">
                <a16:creationId xmlns:a16="http://schemas.microsoft.com/office/drawing/2014/main" id="{080A9D47-2F11-ACD4-6794-F302630781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46" r="4926" b="-2"/>
          <a:stretch>
            <a:fillRect/>
          </a:stretch>
        </p:blipFill>
        <p:spPr>
          <a:xfrm>
            <a:off x="7648048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64DEED3-BC52-4F15-8426-D33275CB0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37D94AD-9CD7-4F7F-B13A-399B37840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F6D3FDC-6FDD-4615-B246-1FC651E9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8760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B7AA-1B17-FE6C-75DD-A7434C04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589D-8679-5808-D6A8-50B94FAC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Ordered list of </a:t>
            </a:r>
            <a:r>
              <a:rPr lang="en-CA" b="1" dirty="0"/>
              <a:t>actions</a:t>
            </a:r>
          </a:p>
          <a:p>
            <a:pPr lvl="1"/>
            <a:r>
              <a:rPr lang="en-CA" dirty="0"/>
              <a:t>Solve a problem, perform a task</a:t>
            </a:r>
          </a:p>
          <a:p>
            <a:r>
              <a:rPr lang="en-CA" dirty="0"/>
              <a:t>Actions </a:t>
            </a:r>
            <a:r>
              <a:rPr lang="en-CA" dirty="0">
                <a:sym typeface="Wingdings" pitchFamily="2" charset="2"/>
              </a:rPr>
              <a:t> imperative, feasible, self-explanatory</a:t>
            </a:r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r>
              <a:rPr lang="en-C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1001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67C5-FB16-AA82-CEBA-CEC6CC31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Algorithms – Control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8363C-B001-A142-D067-831DE79F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Condition under which to perform an action</a:t>
            </a:r>
          </a:p>
          <a:p>
            <a:r>
              <a:rPr lang="en-CA" dirty="0"/>
              <a:t>Example?</a:t>
            </a:r>
          </a:p>
        </p:txBody>
      </p:sp>
    </p:spTree>
    <p:extLst>
      <p:ext uri="{BB962C8B-B14F-4D97-AF65-F5344CB8AC3E}">
        <p14:creationId xmlns:p14="http://schemas.microsoft.com/office/powerpoint/2010/main" val="394296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FF39-78D4-9308-F0D9-608BD676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8C33-0F81-1D4C-B318-C78CEC751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Remove irrelevant details</a:t>
            </a:r>
          </a:p>
          <a:p>
            <a:r>
              <a:rPr lang="en-CA" dirty="0"/>
              <a:t>Ex) If we say “write your name on the top of the page”</a:t>
            </a:r>
          </a:p>
          <a:p>
            <a:pPr lvl="1"/>
            <a:r>
              <a:rPr lang="en-CA" dirty="0"/>
              <a:t>Omits details like get a writing instrument, writing each letter of your name etc.</a:t>
            </a:r>
          </a:p>
          <a:p>
            <a:pPr lvl="1"/>
            <a:r>
              <a:rPr lang="en-CA" dirty="0"/>
              <a:t>Need to be careful what to abstract based on who/what is performing a task!</a:t>
            </a:r>
          </a:p>
        </p:txBody>
      </p:sp>
    </p:spTree>
    <p:extLst>
      <p:ext uri="{BB962C8B-B14F-4D97-AF65-F5344CB8AC3E}">
        <p14:creationId xmlns:p14="http://schemas.microsoft.com/office/powerpoint/2010/main" val="115923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D899-57EF-66BE-1A63-0284842F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6E6F2-257C-E9D6-5609-F758A502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21925"/>
            <a:ext cx="10668000" cy="367407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Opposite of Abstraction</a:t>
            </a:r>
          </a:p>
          <a:p>
            <a:pPr lvl="1"/>
            <a:r>
              <a:rPr lang="en-CA" dirty="0"/>
              <a:t>Adding more details</a:t>
            </a:r>
          </a:p>
          <a:p>
            <a:r>
              <a:rPr lang="en-CA" dirty="0"/>
              <a:t>Can refine write name:</a:t>
            </a:r>
          </a:p>
          <a:p>
            <a:pPr lvl="1"/>
            <a:r>
              <a:rPr lang="en-CA" dirty="0"/>
              <a:t>Write an L</a:t>
            </a:r>
          </a:p>
          <a:p>
            <a:pPr lvl="1"/>
            <a:r>
              <a:rPr lang="en-CA" dirty="0"/>
              <a:t>Could even refine Write an L </a:t>
            </a:r>
            <a:r>
              <a:rPr lang="en-CA" dirty="0">
                <a:sym typeface="Wingdings" pitchFamily="2" charset="2"/>
              </a:rPr>
              <a:t> stepwise refinement</a:t>
            </a:r>
            <a:endParaRPr lang="en-CA" dirty="0"/>
          </a:p>
          <a:p>
            <a:pPr lvl="2"/>
            <a:r>
              <a:rPr lang="en-CA" dirty="0"/>
              <a:t>Write a 2cm vertical line</a:t>
            </a:r>
          </a:p>
          <a:p>
            <a:pPr lvl="2"/>
            <a:r>
              <a:rPr lang="en-CA" dirty="0"/>
              <a:t>Write a 1cm horizontal line, going to the right, that touches the bottom of the first line</a:t>
            </a:r>
          </a:p>
          <a:p>
            <a:r>
              <a:rPr lang="en-CA" dirty="0"/>
              <a:t>Refine until algorithm is feasible and self-explanatory for who/what is performing the algorithm</a:t>
            </a:r>
          </a:p>
        </p:txBody>
      </p:sp>
    </p:spTree>
    <p:extLst>
      <p:ext uri="{BB962C8B-B14F-4D97-AF65-F5344CB8AC3E}">
        <p14:creationId xmlns:p14="http://schemas.microsoft.com/office/powerpoint/2010/main" val="180599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A813-5564-B5D0-C5F8-E73F6B20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CC60C-BFD5-2F56-26E4-693AC140C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Grouping (and naming) related actions</a:t>
            </a:r>
          </a:p>
          <a:p>
            <a:r>
              <a:rPr lang="en-CA" dirty="0"/>
              <a:t>Break up tasks (Refinement) but hide the details (Abstraction)</a:t>
            </a:r>
          </a:p>
        </p:txBody>
      </p:sp>
    </p:spTree>
    <p:extLst>
      <p:ext uri="{BB962C8B-B14F-4D97-AF65-F5344CB8AC3E}">
        <p14:creationId xmlns:p14="http://schemas.microsoft.com/office/powerpoint/2010/main" val="1809519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672D-6A25-D336-7E03-A0C33839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B1E86-27E9-587F-1B23-E2BAE2B00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Input </a:t>
            </a:r>
            <a:r>
              <a:rPr lang="en-CA" dirty="0">
                <a:sym typeface="Wingdings" pitchFamily="2" charset="2"/>
              </a:rPr>
              <a:t> resources or information needed before the algorithm is carried out</a:t>
            </a:r>
          </a:p>
          <a:p>
            <a:r>
              <a:rPr lang="en-CA" dirty="0">
                <a:sym typeface="Wingdings" pitchFamily="2" charset="2"/>
              </a:rPr>
              <a:t>Output  the results when the algorithm is finished</a:t>
            </a:r>
          </a:p>
          <a:p>
            <a:endParaRPr lang="en-CA" dirty="0">
              <a:sym typeface="Wingdings" pitchFamily="2" charset="2"/>
            </a:endParaRPr>
          </a:p>
          <a:p>
            <a:r>
              <a:rPr lang="en-CA" dirty="0">
                <a:sym typeface="Wingdings" pitchFamily="2" charset="2"/>
              </a:rPr>
              <a:t>In p5 for example an input could be location of the mouse, Output is what is drawn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230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C618-F606-9DBE-1BEF-5763D10C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Visual Output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C133-D0A8-22E5-6AF5-22B5DA99B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58995"/>
            <a:ext cx="10668000" cy="407772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Programming Language </a:t>
            </a:r>
            <a:r>
              <a:rPr lang="en-CA" dirty="0">
                <a:sym typeface="Wingdings" pitchFamily="2" charset="2"/>
              </a:rPr>
              <a:t> language programmers use to give instructions to a computer. Ex) Python</a:t>
            </a:r>
          </a:p>
          <a:p>
            <a:pPr lvl="1"/>
            <a:r>
              <a:rPr lang="en-CA" dirty="0">
                <a:sym typeface="Wingdings" pitchFamily="2" charset="2"/>
              </a:rPr>
              <a:t>Vocabulary  words that mean specific things. Ex) print</a:t>
            </a:r>
          </a:p>
          <a:p>
            <a:pPr lvl="1"/>
            <a:r>
              <a:rPr lang="en-CA" dirty="0">
                <a:sym typeface="Wingdings" pitchFamily="2" charset="2"/>
              </a:rPr>
              <a:t>Syntax  how words and punctuation is combined Ex) print()</a:t>
            </a:r>
          </a:p>
          <a:p>
            <a:pPr lvl="1"/>
            <a:endParaRPr lang="en-CA" dirty="0">
              <a:sym typeface="Wingdings" pitchFamily="2" charset="2"/>
            </a:endParaRPr>
          </a:p>
          <a:p>
            <a:r>
              <a:rPr lang="en-CA" dirty="0">
                <a:sym typeface="Wingdings" pitchFamily="2" charset="2"/>
              </a:rPr>
              <a:t>Programming Library  Sets of extra commands Ex) p5</a:t>
            </a:r>
          </a:p>
          <a:p>
            <a:endParaRPr lang="en-CA" dirty="0">
              <a:sym typeface="Wingdings" pitchFamily="2" charset="2"/>
            </a:endParaRPr>
          </a:p>
          <a:p>
            <a:r>
              <a:rPr lang="en-CA" dirty="0">
                <a:sym typeface="Wingdings" pitchFamily="2" charset="2"/>
              </a:rPr>
              <a:t>Development Environment  application for programmers to write computer code Ex) Thonny</a:t>
            </a:r>
          </a:p>
          <a:p>
            <a:pPr lvl="1"/>
            <a:r>
              <a:rPr lang="en-CA" dirty="0">
                <a:sym typeface="Wingdings" pitchFamily="2" charset="2"/>
              </a:rPr>
              <a:t>Not needed, but helpful!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75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FACB-E99C-852D-4096-E59E28D8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Coordinate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CF76A-4D68-92B1-89A4-FBB3BC6F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2505676"/>
            <a:ext cx="4051986" cy="395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2F36-2655-F4A4-D465-B7D604C2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does this program do?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D4B45A-3B14-1B66-FFE6-62FE3A145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76" y="2406821"/>
            <a:ext cx="8039615" cy="40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7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CDBA0F-494D-E725-644F-2877DA6F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125" y="705021"/>
            <a:ext cx="5214037" cy="50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8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600B-E893-E10A-2D94-BAC9EB304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Text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7333C-A252-50B4-9CAA-5A46216FF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What does the following do:</a:t>
            </a:r>
          </a:p>
          <a:p>
            <a:pPr marL="0" indent="0">
              <a:buNone/>
            </a:pPr>
            <a:r>
              <a:rPr lang="en-CA" dirty="0"/>
              <a:t>print(“Hello!”)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is it different from:</a:t>
            </a:r>
          </a:p>
          <a:p>
            <a:pPr marL="0" indent="0">
              <a:buNone/>
            </a:pPr>
            <a:r>
              <a:rPr lang="en-CA" dirty="0"/>
              <a:t>text(“Hello!”)</a:t>
            </a:r>
          </a:p>
        </p:txBody>
      </p:sp>
    </p:spTree>
    <p:extLst>
      <p:ext uri="{BB962C8B-B14F-4D97-AF65-F5344CB8AC3E}">
        <p14:creationId xmlns:p14="http://schemas.microsoft.com/office/powerpoint/2010/main" val="408805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DD26-D531-9C5B-5D26-6308AFD6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Grayscale Colour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51EED-92FC-CFCF-9C53-01F96C6AC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238" y="2944339"/>
            <a:ext cx="5701958" cy="28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F3D3-A8C8-9B04-A099-AFA047DA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RGB Colour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B382-B457-0241-90E1-2B9163C97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Red, Green, Blue</a:t>
            </a:r>
          </a:p>
          <a:p>
            <a:r>
              <a:rPr lang="en-CA" dirty="0"/>
              <a:t>Additive colour model</a:t>
            </a:r>
          </a:p>
          <a:p>
            <a:r>
              <a:rPr lang="en-CA" dirty="0"/>
              <a:t>Mixture of light</a:t>
            </a:r>
          </a:p>
          <a:p>
            <a:endParaRPr lang="en-CA" dirty="0"/>
          </a:p>
          <a:p>
            <a:r>
              <a:rPr lang="en-CA" dirty="0"/>
              <a:t>How would I get grey?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1026" name="Picture 2" descr="Exploring Color Space : 6 Steps - Instructables">
            <a:extLst>
              <a:ext uri="{FF2B5EF4-FFF2-40B4-BE49-F238E27FC236}">
                <a16:creationId xmlns:a16="http://schemas.microsoft.com/office/drawing/2014/main" id="{DD941F9B-86BD-635C-BA98-E1B1BE356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4000"/>
            <a:ext cx="5379351" cy="430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680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066B-9B9C-5525-B40E-BCB5727B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does this program do?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572E16-ACC8-87BA-3A06-A1F2CA573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9577" y="2492635"/>
            <a:ext cx="3792846" cy="376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41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E06B-3491-D35E-0CFF-194E9238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21B47-E406-EE0A-955D-CE021BE8E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32860-A85C-9840-4E8F-22D0C9FF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04" y="1524000"/>
            <a:ext cx="3829392" cy="384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4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05E9-9173-383D-3210-7A7DA81F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5910-D7FA-8FA2-0BA8-08A213A62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3047999"/>
            <a:ext cx="11310551" cy="3048001"/>
          </a:xfrm>
        </p:spPr>
        <p:txBody>
          <a:bodyPr/>
          <a:lstStyle/>
          <a:p>
            <a:r>
              <a:rPr lang="en-CA" dirty="0"/>
              <a:t>A name for a piece of data</a:t>
            </a:r>
          </a:p>
          <a:p>
            <a:r>
              <a:rPr lang="en-CA" dirty="0"/>
              <a:t>Variable names	</a:t>
            </a:r>
          </a:p>
          <a:p>
            <a:pPr lvl="1"/>
            <a:r>
              <a:rPr lang="en-CA" dirty="0"/>
              <a:t>Should clearly indicate what the variable is for!</a:t>
            </a:r>
          </a:p>
          <a:p>
            <a:pPr lvl="1"/>
            <a:r>
              <a:rPr lang="en-CA" dirty="0"/>
              <a:t>Can contain letters, digits and underscores, but no other symbols</a:t>
            </a:r>
          </a:p>
          <a:p>
            <a:pPr lvl="1"/>
            <a:r>
              <a:rPr lang="en-CA" dirty="0"/>
              <a:t>Cannot start with a digit</a:t>
            </a:r>
          </a:p>
          <a:p>
            <a:pPr lvl="1"/>
            <a:r>
              <a:rPr lang="en-CA" dirty="0"/>
              <a:t>Cannot be a Python keyword</a:t>
            </a:r>
          </a:p>
        </p:txBody>
      </p:sp>
    </p:spTree>
    <p:extLst>
      <p:ext uri="{BB962C8B-B14F-4D97-AF65-F5344CB8AC3E}">
        <p14:creationId xmlns:p14="http://schemas.microsoft.com/office/powerpoint/2010/main" val="2735571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DC21-1801-9F69-732B-613B0B20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p5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850C-E05F-D315-6DC3-45B682D13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mouse_x</a:t>
            </a:r>
            <a:endParaRPr lang="en-CA" dirty="0"/>
          </a:p>
          <a:p>
            <a:r>
              <a:rPr lang="en-CA" dirty="0" err="1"/>
              <a:t>mouse_y</a:t>
            </a:r>
            <a:endParaRPr lang="en-CA" dirty="0"/>
          </a:p>
          <a:p>
            <a:r>
              <a:rPr lang="en-CA" dirty="0"/>
              <a:t>key</a:t>
            </a:r>
          </a:p>
          <a:p>
            <a:r>
              <a:rPr lang="en-CA" dirty="0"/>
              <a:t>width</a:t>
            </a:r>
          </a:p>
          <a:p>
            <a:r>
              <a:rPr lang="en-CA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2947511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F4-94E3-F099-FAC7-9DE818A8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6B74-39C2-549E-4ED1-EBA390ED7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 value </a:t>
            </a:r>
            <a:r>
              <a:rPr lang="en-CA" dirty="0">
                <a:sym typeface="Wingdings" pitchFamily="2" charset="2"/>
              </a:rPr>
              <a:t> a piece of information that has a precise meaning to a computer</a:t>
            </a:r>
          </a:p>
          <a:p>
            <a:r>
              <a:rPr lang="en-CA" dirty="0">
                <a:sym typeface="Wingdings" pitchFamily="2" charset="2"/>
              </a:rPr>
              <a:t>Goes on right hand side of variable assignment statement </a:t>
            </a:r>
          </a:p>
          <a:p>
            <a:pPr lvl="1"/>
            <a:r>
              <a:rPr lang="en-CA" dirty="0">
                <a:sym typeface="Wingdings" pitchFamily="2" charset="2"/>
              </a:rPr>
              <a:t>Ex) name = “Amanda”</a:t>
            </a:r>
          </a:p>
          <a:p>
            <a:pPr lvl="1"/>
            <a:r>
              <a:rPr lang="en-CA" dirty="0">
                <a:sym typeface="Wingdings" pitchFamily="2" charset="2"/>
              </a:rPr>
              <a:t>name is the variable, “Amanda” is the data value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839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5B58-639E-C2C1-064A-01112E69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9"/>
            <a:ext cx="9144000" cy="1263649"/>
          </a:xfrm>
        </p:spPr>
        <p:txBody>
          <a:bodyPr/>
          <a:lstStyle/>
          <a:p>
            <a:r>
              <a:rPr lang="en-CA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3394-7A6F-7402-DB75-C3A902C6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618734"/>
            <a:ext cx="11298195" cy="4843849"/>
          </a:xfrm>
        </p:spPr>
        <p:txBody>
          <a:bodyPr>
            <a:normAutofit/>
          </a:bodyPr>
          <a:lstStyle/>
          <a:p>
            <a:r>
              <a:rPr lang="en-CA" dirty="0"/>
              <a:t>Categories that define what kind of operations can be performed on the data</a:t>
            </a:r>
          </a:p>
          <a:p>
            <a:r>
              <a:rPr lang="en-CA" dirty="0"/>
              <a:t>Atomic datatypes</a:t>
            </a:r>
          </a:p>
          <a:p>
            <a:pPr lvl="1"/>
            <a:r>
              <a:rPr lang="en-CA" dirty="0"/>
              <a:t>Integers </a:t>
            </a:r>
            <a:r>
              <a:rPr lang="en-CA" dirty="0">
                <a:sym typeface="Wingdings" pitchFamily="2" charset="2"/>
              </a:rPr>
              <a:t> whole numbers, no fractional part</a:t>
            </a:r>
            <a:endParaRPr lang="en-CA" dirty="0"/>
          </a:p>
          <a:p>
            <a:pPr lvl="1"/>
            <a:r>
              <a:rPr lang="en-CA" dirty="0"/>
              <a:t>Floating points </a:t>
            </a:r>
            <a:r>
              <a:rPr lang="en-CA" dirty="0">
                <a:sym typeface="Wingdings" pitchFamily="2" charset="2"/>
              </a:rPr>
              <a:t> numbers that are not whole number</a:t>
            </a:r>
          </a:p>
          <a:p>
            <a:pPr lvl="2"/>
            <a:r>
              <a:rPr lang="en-CA" dirty="0">
                <a:sym typeface="Wingdings" pitchFamily="2" charset="2"/>
              </a:rPr>
              <a:t>Sometimes cannot be represented exactly</a:t>
            </a:r>
          </a:p>
          <a:p>
            <a:pPr lvl="1"/>
            <a:r>
              <a:rPr lang="en-CA" dirty="0">
                <a:sym typeface="Wingdings" pitchFamily="2" charset="2"/>
              </a:rPr>
              <a:t>Booleans  True False</a:t>
            </a:r>
          </a:p>
          <a:p>
            <a:r>
              <a:rPr lang="en-CA" dirty="0">
                <a:sym typeface="Wingdings" pitchFamily="2" charset="2"/>
              </a:rPr>
              <a:t>Compound datatypes</a:t>
            </a:r>
          </a:p>
          <a:p>
            <a:pPr lvl="1"/>
            <a:r>
              <a:rPr lang="en-CA" dirty="0">
                <a:sym typeface="Wingdings" pitchFamily="2" charset="2"/>
              </a:rPr>
              <a:t>Strings  sequences of characters enclosed in “” or ‘’</a:t>
            </a:r>
          </a:p>
          <a:p>
            <a:pPr lvl="1"/>
            <a:r>
              <a:rPr lang="en-CA" dirty="0">
                <a:sym typeface="Wingdings" pitchFamily="2" charset="2"/>
              </a:rPr>
              <a:t>List  sequence of data items enclosed in []</a:t>
            </a:r>
          </a:p>
          <a:p>
            <a:pPr lvl="1"/>
            <a:r>
              <a:rPr lang="en-CA" dirty="0">
                <a:sym typeface="Wingdings" pitchFamily="2" charset="2"/>
              </a:rPr>
              <a:t>Dictionary  unordered sequence of key-value pairs enclosed in {}</a:t>
            </a:r>
          </a:p>
          <a:p>
            <a:pPr lvl="1"/>
            <a:endParaRPr lang="en-CA" dirty="0">
              <a:sym typeface="Wingdings" pitchFamily="2" charset="2"/>
            </a:endParaRPr>
          </a:p>
          <a:p>
            <a:pPr lvl="2"/>
            <a:endParaRPr lang="en-CA" dirty="0">
              <a:sym typeface="Wingdings" pitchFamily="2" charset="2"/>
            </a:endParaRPr>
          </a:p>
          <a:p>
            <a:pPr marL="914400" lvl="2" indent="0">
              <a:buNone/>
            </a:pPr>
            <a:endParaRPr lang="en-CA" dirty="0">
              <a:sym typeface="Wingdings" pitchFamily="2" charset="2"/>
            </a:endParaRPr>
          </a:p>
          <a:p>
            <a:pPr marL="914400" lvl="2" indent="0">
              <a:buNone/>
            </a:pPr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05541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ECD0-9B65-4A14-E831-FCA93F99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4742A-BFDB-F91A-F2C6-003E16110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1" y="2582563"/>
            <a:ext cx="11775989" cy="3513438"/>
          </a:xfrm>
        </p:spPr>
        <p:txBody>
          <a:bodyPr>
            <a:normAutofit/>
          </a:bodyPr>
          <a:lstStyle/>
          <a:p>
            <a:r>
              <a:rPr lang="en-CA" dirty="0"/>
              <a:t>Data value written into the program’s code</a:t>
            </a:r>
          </a:p>
          <a:p>
            <a:r>
              <a:rPr lang="en-CA" dirty="0"/>
              <a:t>Integer literals: numbers without decimal points</a:t>
            </a:r>
          </a:p>
          <a:p>
            <a:r>
              <a:rPr lang="en-CA" dirty="0"/>
              <a:t>Floating point literal: numbers written with a decimal point, or in scientific notation</a:t>
            </a:r>
          </a:p>
          <a:p>
            <a:r>
              <a:rPr lang="en-CA" dirty="0"/>
              <a:t>String literal: A sequence of characters enclosed with </a:t>
            </a:r>
            <a:br>
              <a:rPr lang="en-CA" dirty="0"/>
            </a:br>
            <a:r>
              <a:rPr lang="en-CA" dirty="0"/>
              <a:t>”” or ‘’</a:t>
            </a:r>
          </a:p>
        </p:txBody>
      </p:sp>
    </p:spTree>
    <p:extLst>
      <p:ext uri="{BB962C8B-B14F-4D97-AF65-F5344CB8AC3E}">
        <p14:creationId xmlns:p14="http://schemas.microsoft.com/office/powerpoint/2010/main" val="612002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311E-D486-6140-5C81-8D86B91C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30F9-5EC8-FA1B-9025-075B438C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Combinations of data and operators</a:t>
            </a:r>
          </a:p>
          <a:p>
            <a:r>
              <a:rPr lang="en-CA" dirty="0"/>
              <a:t>Operators </a:t>
            </a:r>
            <a:r>
              <a:rPr lang="en-CA" dirty="0">
                <a:sym typeface="Wingdings" pitchFamily="2" charset="2"/>
              </a:rPr>
              <a:t> special symbols that have their own meaning</a:t>
            </a:r>
          </a:p>
          <a:p>
            <a:pPr lvl="1"/>
            <a:r>
              <a:rPr lang="en-CA" dirty="0">
                <a:sym typeface="Wingdings" pitchFamily="2" charset="2"/>
              </a:rPr>
              <a:t>* ** + - / // %</a:t>
            </a:r>
          </a:p>
          <a:p>
            <a:r>
              <a:rPr lang="en-CA" dirty="0">
                <a:sym typeface="Wingdings" pitchFamily="2" charset="2"/>
              </a:rPr>
              <a:t>Literals and variables are examples of expressions too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2588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EAF7-2428-872C-C3E0-B4E855E3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will this program do?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2EA74F-AACC-1C2A-122D-E6D3DCED7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729" y="2616199"/>
            <a:ext cx="7082256" cy="357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82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E26A-7E75-7328-97A2-F1E60534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CEFF29-28DE-7F2C-9AE5-6533EA724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3619" y="3250195"/>
            <a:ext cx="7104761" cy="222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9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1DF3-C8AD-7F63-93F3-E832FC74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63145"/>
            <a:ext cx="9144000" cy="1263649"/>
          </a:xfrm>
        </p:spPr>
        <p:txBody>
          <a:bodyPr/>
          <a:lstStyle/>
          <a:p>
            <a:r>
              <a:rPr lang="en-CA" dirty="0"/>
              <a:t>Question!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EAB4-5EF3-4914-83BE-F8510BB20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04086"/>
            <a:ext cx="10668000" cy="43907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Imagine you have two </a:t>
            </a:r>
            <a:r>
              <a:rPr lang="en-CA" dirty="0" err="1"/>
              <a:t>Codelab</a:t>
            </a:r>
            <a:r>
              <a:rPr lang="en-CA" dirty="0"/>
              <a:t> questions where you are given the variable x containing an integer, and y containing another integer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1. write an expression to add x and y together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2. Assign a variable to the sum of x and 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you tell the difference between what these are asking?</a:t>
            </a:r>
          </a:p>
        </p:txBody>
      </p:sp>
    </p:spTree>
    <p:extLst>
      <p:ext uri="{BB962C8B-B14F-4D97-AF65-F5344CB8AC3E}">
        <p14:creationId xmlns:p14="http://schemas.microsoft.com/office/powerpoint/2010/main" val="2534200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5F1-7B7A-EE7A-BD35-BC084862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356" y="955589"/>
            <a:ext cx="9144000" cy="1263649"/>
          </a:xfrm>
        </p:spPr>
        <p:txBody>
          <a:bodyPr/>
          <a:lstStyle/>
          <a:p>
            <a:r>
              <a:rPr lang="en-CA" dirty="0"/>
              <a:t>Interactive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1DEE1-A19A-D7B7-0AA0-B127C6445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18735"/>
            <a:ext cx="10668000" cy="447726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 computer program designed to continually interact with a human user</a:t>
            </a:r>
          </a:p>
          <a:p>
            <a:r>
              <a:rPr lang="en-CA" dirty="0"/>
              <a:t>users </a:t>
            </a:r>
            <a:r>
              <a:rPr lang="en-CA" dirty="0">
                <a:sym typeface="Wingdings" pitchFamily="2" charset="2"/>
              </a:rPr>
              <a:t> the humans use a computer program</a:t>
            </a:r>
          </a:p>
          <a:p>
            <a:r>
              <a:rPr lang="en-CA" dirty="0">
                <a:sym typeface="Wingdings" pitchFamily="2" charset="2"/>
              </a:rPr>
              <a:t>system  the computer program that interacts with the human user</a:t>
            </a:r>
          </a:p>
          <a:p>
            <a:r>
              <a:rPr lang="en-CA" dirty="0">
                <a:sym typeface="Wingdings" pitchFamily="2" charset="2"/>
              </a:rPr>
              <a:t>User actions  physical events initiated by the user that the interactive system can detect</a:t>
            </a:r>
          </a:p>
          <a:p>
            <a:r>
              <a:rPr lang="en-CA" dirty="0">
                <a:sym typeface="Wingdings" pitchFamily="2" charset="2"/>
              </a:rPr>
              <a:t>System feedback  the mechanism by which the system gives information back to the user</a:t>
            </a:r>
          </a:p>
          <a:p>
            <a:r>
              <a:rPr lang="en-CA" dirty="0">
                <a:sym typeface="Wingdings" pitchFamily="2" charset="2"/>
              </a:rPr>
              <a:t>How does this differ from a run to completion system?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1062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3252-995C-B83C-E0EA-0E56FCA5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81" y="182916"/>
            <a:ext cx="9144000" cy="1263649"/>
          </a:xfrm>
        </p:spPr>
        <p:txBody>
          <a:bodyPr>
            <a:normAutofit fontScale="90000"/>
          </a:bodyPr>
          <a:lstStyle/>
          <a:p>
            <a:r>
              <a:rPr lang="en-CA" dirty="0"/>
              <a:t>What happens as I hit the space bar?</a:t>
            </a:r>
          </a:p>
        </p:txBody>
      </p:sp>
      <p:pic>
        <p:nvPicPr>
          <p:cNvPr id="9" name="Content Placeholder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64D79AA-7857-22BF-C294-2F37DBC43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0462" y="920146"/>
            <a:ext cx="5151076" cy="5656084"/>
          </a:xfrm>
        </p:spPr>
      </p:pic>
    </p:spTree>
    <p:extLst>
      <p:ext uri="{BB962C8B-B14F-4D97-AF65-F5344CB8AC3E}">
        <p14:creationId xmlns:p14="http://schemas.microsoft.com/office/powerpoint/2010/main" val="3047160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6-02-09 at 4.29.54 PM">
            <a:hlinkClick r:id="" action="ppaction://media"/>
            <a:extLst>
              <a:ext uri="{FF2B5EF4-FFF2-40B4-BE49-F238E27FC236}">
                <a16:creationId xmlns:a16="http://schemas.microsoft.com/office/drawing/2014/main" id="{CB1DAFC7-6251-EDC3-86A6-2EAC748B2A9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80759" y="1041227"/>
            <a:ext cx="3311637" cy="3245708"/>
          </a:xfrm>
        </p:spPr>
      </p:pic>
    </p:spTree>
    <p:extLst>
      <p:ext uri="{BB962C8B-B14F-4D97-AF65-F5344CB8AC3E}">
        <p14:creationId xmlns:p14="http://schemas.microsoft.com/office/powerpoint/2010/main" val="11241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6980-9ED9-28AB-5436-6195F2F6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AF7CF-2ABD-D200-8EFF-4AD2A3B6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block of code that is given a name</a:t>
            </a:r>
          </a:p>
          <a:p>
            <a:r>
              <a:rPr lang="en-CA" dirty="0"/>
              <a:t>defining the function </a:t>
            </a:r>
            <a:r>
              <a:rPr lang="en-CA" dirty="0">
                <a:sym typeface="Wingdings" pitchFamily="2" charset="2"/>
              </a:rPr>
              <a:t> writing the code and name</a:t>
            </a:r>
          </a:p>
          <a:p>
            <a:r>
              <a:rPr lang="en-CA" dirty="0">
                <a:sym typeface="Wingdings" pitchFamily="2" charset="2"/>
              </a:rPr>
              <a:t>calling the function  executing the function by writing its name in our code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5350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62DA-3C11-0421-4E48-26C40A51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222" y="472304"/>
            <a:ext cx="9144000" cy="1263649"/>
          </a:xfrm>
        </p:spPr>
        <p:txBody>
          <a:bodyPr/>
          <a:lstStyle/>
          <a:p>
            <a:r>
              <a:rPr lang="en-CA" dirty="0"/>
              <a:t>Calling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FF63-F160-6343-2B97-B748F12F0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23E36F-1E7F-C3CC-D2C5-E4F84877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22" y="1388697"/>
            <a:ext cx="7772400" cy="4502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F88C36-A277-DE8D-595D-0A1E8DF9EFA0}"/>
              </a:ext>
            </a:extLst>
          </p:cNvPr>
          <p:cNvSpPr txBox="1"/>
          <p:nvPr/>
        </p:nvSpPr>
        <p:spPr>
          <a:xfrm>
            <a:off x="762000" y="2074131"/>
            <a:ext cx="113229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Ex 1</a:t>
            </a:r>
          </a:p>
          <a:p>
            <a:r>
              <a:rPr lang="en-CA" sz="3200" dirty="0"/>
              <a:t>	What is the argument when calling </a:t>
            </a:r>
          </a:p>
          <a:p>
            <a:r>
              <a:rPr lang="en-CA" sz="3200" dirty="0"/>
              <a:t>	print(“Hello World!”) </a:t>
            </a:r>
          </a:p>
          <a:p>
            <a:r>
              <a:rPr lang="en-CA" sz="3200" dirty="0"/>
              <a:t>Ex 2</a:t>
            </a:r>
          </a:p>
          <a:p>
            <a:r>
              <a:rPr lang="en-CA" sz="3200" dirty="0"/>
              <a:t>	Give an example of a function call that takes no arguments </a:t>
            </a:r>
          </a:p>
        </p:txBody>
      </p:sp>
    </p:spTree>
    <p:extLst>
      <p:ext uri="{BB962C8B-B14F-4D97-AF65-F5344CB8AC3E}">
        <p14:creationId xmlns:p14="http://schemas.microsoft.com/office/powerpoint/2010/main" val="3220935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A3DF-3E56-B3B1-DE79-F30E2956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4768-1EED-A155-C042-7DFA237D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72497"/>
            <a:ext cx="10668000" cy="3723503"/>
          </a:xfrm>
        </p:spPr>
        <p:txBody>
          <a:bodyPr>
            <a:normAutofit/>
          </a:bodyPr>
          <a:lstStyle/>
          <a:p>
            <a:r>
              <a:rPr lang="en-CA" dirty="0"/>
              <a:t>You already have done this! But now can make your own!</a:t>
            </a:r>
          </a:p>
          <a:p>
            <a:pPr marL="0" indent="0">
              <a:buNone/>
            </a:pPr>
            <a:r>
              <a:rPr lang="en-CA" dirty="0"/>
              <a:t>def </a:t>
            </a:r>
            <a:r>
              <a:rPr lang="en-CA" dirty="0" err="1"/>
              <a:t>myFunctionName</a:t>
            </a:r>
            <a:r>
              <a:rPr lang="en-CA" dirty="0"/>
              <a:t>(parameters):</a:t>
            </a:r>
          </a:p>
          <a:p>
            <a:pPr marL="0" indent="0">
              <a:buNone/>
            </a:pPr>
            <a:r>
              <a:rPr lang="en-CA" dirty="0"/>
              <a:t>	code</a:t>
            </a:r>
          </a:p>
          <a:p>
            <a:pPr marL="0" indent="0">
              <a:buNone/>
            </a:pPr>
            <a:r>
              <a:rPr lang="en-CA" dirty="0"/>
              <a:t>	return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6867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9739-D034-9DE7-B52A-48F0A8BD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77330"/>
            <a:ext cx="10668000" cy="58323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3200" dirty="0"/>
              <a:t>Ex 3:</a:t>
            </a:r>
          </a:p>
          <a:p>
            <a:pPr marL="0" indent="0">
              <a:buNone/>
            </a:pPr>
            <a:r>
              <a:rPr lang="en-CA" sz="3200" dirty="0"/>
              <a:t>What is the difference between an argument and a parameter?</a:t>
            </a:r>
          </a:p>
          <a:p>
            <a:pPr marL="0" indent="0">
              <a:buNone/>
            </a:pPr>
            <a:endParaRPr lang="en-CA" sz="3200" dirty="0"/>
          </a:p>
          <a:p>
            <a:pPr marL="0" indent="0">
              <a:buNone/>
            </a:pPr>
            <a:r>
              <a:rPr lang="en-CA" sz="3200" dirty="0"/>
              <a:t>Ex 4:</a:t>
            </a:r>
          </a:p>
          <a:p>
            <a:pPr marL="0" indent="0">
              <a:buNone/>
            </a:pPr>
            <a:r>
              <a:rPr lang="en-CA" sz="3200" dirty="0"/>
              <a:t>Write a function that draws an ”x” out of red lines. Make the function take in the coordinates of the middle of the x and the size of the lines as parameters</a:t>
            </a:r>
          </a:p>
          <a:p>
            <a:pPr marL="0" indent="0">
              <a:buNone/>
            </a:pPr>
            <a:r>
              <a:rPr lang="en-CA" sz="3200" dirty="0"/>
              <a:t>Then call your function</a:t>
            </a:r>
          </a:p>
          <a:p>
            <a:pPr marL="0" indent="0">
              <a:buNone/>
            </a:pPr>
            <a:endParaRPr lang="en-CA" sz="3200" dirty="0"/>
          </a:p>
          <a:p>
            <a:pPr marL="0" indent="0">
              <a:buNone/>
            </a:pPr>
            <a:r>
              <a:rPr lang="en-CA" sz="3200" dirty="0"/>
              <a:t>Ex 5:</a:t>
            </a:r>
          </a:p>
          <a:p>
            <a:pPr marL="0" indent="0">
              <a:buNone/>
            </a:pPr>
            <a:r>
              <a:rPr lang="en-CA" sz="3200" dirty="0"/>
              <a:t>Write a function that returns the square root </a:t>
            </a:r>
            <a:r>
              <a:rPr lang="en-CA" sz="3200"/>
              <a:t>of a number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907375143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900</Words>
  <Application>Microsoft Office PowerPoint</Application>
  <PresentationFormat>Widescreen</PresentationFormat>
  <Paragraphs>140</Paragraphs>
  <Slides>32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Verdana Pro</vt:lpstr>
      <vt:lpstr>Verdana Pro Cond SemiBold</vt:lpstr>
      <vt:lpstr>Wingdings</vt:lpstr>
      <vt:lpstr>TornVTI</vt:lpstr>
      <vt:lpstr>CMPT 140 Lab 4: Midterm Review, Functions</vt:lpstr>
      <vt:lpstr>Algorithms</vt:lpstr>
      <vt:lpstr>Algorithms – Control Statements</vt:lpstr>
      <vt:lpstr>Abstraction</vt:lpstr>
      <vt:lpstr>Refinement</vt:lpstr>
      <vt:lpstr>Encapsulation</vt:lpstr>
      <vt:lpstr>Input and Output</vt:lpstr>
      <vt:lpstr>Visual Output in Python</vt:lpstr>
      <vt:lpstr>Coordinate System</vt:lpstr>
      <vt:lpstr>What does this program do?</vt:lpstr>
      <vt:lpstr>PowerPoint Presentation</vt:lpstr>
      <vt:lpstr>Text Output</vt:lpstr>
      <vt:lpstr>Grayscale Colour</vt:lpstr>
      <vt:lpstr>RGB Colour</vt:lpstr>
      <vt:lpstr>What does this program do?</vt:lpstr>
      <vt:lpstr>PowerPoint Presentation</vt:lpstr>
      <vt:lpstr>Variables</vt:lpstr>
      <vt:lpstr>Special p5 variables</vt:lpstr>
      <vt:lpstr>Data Values </vt:lpstr>
      <vt:lpstr>Data Types</vt:lpstr>
      <vt:lpstr>Literals</vt:lpstr>
      <vt:lpstr>Expressions</vt:lpstr>
      <vt:lpstr>What will this program do?</vt:lpstr>
      <vt:lpstr>PowerPoint Presentation</vt:lpstr>
      <vt:lpstr>Question!</vt:lpstr>
      <vt:lpstr>Interactive Systems</vt:lpstr>
      <vt:lpstr>What happens as I hit the space bar?</vt:lpstr>
      <vt:lpstr>PowerPoint Presentation</vt:lpstr>
      <vt:lpstr>Functions</vt:lpstr>
      <vt:lpstr>Calling functions</vt:lpstr>
      <vt:lpstr>Defining Functions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Ewen, Amanda</dc:creator>
  <cp:lastModifiedBy>Ewen, Amanda</cp:lastModifiedBy>
  <cp:revision>2</cp:revision>
  <dcterms:created xsi:type="dcterms:W3CDTF">2026-02-09T16:25:14Z</dcterms:created>
  <dcterms:modified xsi:type="dcterms:W3CDTF">2026-02-12T21:10:22Z</dcterms:modified>
</cp:coreProperties>
</file>